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509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609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endParaRPr lang="en-U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75808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670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882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094358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5858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157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327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691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770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211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110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523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194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81698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212700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6837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6135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013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58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403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5587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665496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940991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011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036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B9974-835E-FE01-702A-2472C8481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218A97-428C-0118-5AB8-00FC93C9D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B4E67-0AE5-C715-AA91-5A1D9D8C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94A48-F9CD-1BFF-DD47-599C64555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88F1E-8D7C-D092-9315-3956D0B89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9567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6F9926FE-07C5-4FC8-9269-B820FB907398}" type="datetimeFigureOut">
              <a:rPr lang="en-UG" smtClean="0"/>
              <a:t>28/09/2026</a:t>
            </a:fld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96312187-8CED-4F87-9F59-553535A0C90C}" type="slidenum">
              <a:rPr lang="en-UG" smtClean="0"/>
              <a:t>‹#›</a:t>
            </a:fld>
            <a:endParaRPr lang="en-U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5635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86E2E-E315-3DB4-1D08-3FFBEAF2A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Secant Method</a:t>
            </a:r>
            <a:endParaRPr lang="en-U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6B486415-F1D2-FB66-49A7-DD18F29798A3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r>
                  <a:rPr lang="en-US" dirty="0"/>
                  <a:t>A worked example with for- loop and while-loop solutions, pseudocode and flowcharts</a:t>
                </a:r>
              </a:p>
              <a:p>
                <a:r>
                  <a:rPr lang="en-US" dirty="0"/>
                  <a:t>f(x)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−2=0</m:t>
                    </m:r>
                  </m:oMath>
                </a14:m>
                <a:endParaRPr lang="en-US" dirty="0"/>
              </a:p>
              <a:p>
                <a:endParaRPr lang="en-UG" dirty="0"/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6B486415-F1D2-FB66-49A7-DD18F29798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 t="-1103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4736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60327A0-9099-0900-6300-332FF8E6AC4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The Problem</a:t>
                </a:r>
                <a:br>
                  <a:rPr lang="en-US" dirty="0"/>
                </a:br>
                <a:r>
                  <a:rPr lang="en-US" dirty="0"/>
                  <a:t>Find a real root of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−2=0</m:t>
                      </m:r>
                    </m:oMath>
                  </m:oMathPara>
                </a14:m>
                <a:endParaRPr lang="en-UG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60327A0-9099-0900-6300-332FF8E6A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192" t="-53020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100D52-4D21-E330-350B-F894EFAF4D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Starting guesses: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Tolerance: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Maximum </a:t>
                </a:r>
                <a:r>
                  <a:rPr lang="en-US" dirty="0" err="1"/>
                  <a:t>iterations:N</a:t>
                </a:r>
                <a:r>
                  <a:rPr lang="en-US" dirty="0"/>
                  <a:t> = 50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=−2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=4 </m:t>
                    </m:r>
                  </m:oMath>
                </a14:m>
                <a:r>
                  <a:rPr lang="en-US" b="0" dirty="0"/>
                  <a:t>differ in sign, so a root lies between 1 and 2</a:t>
                </a:r>
              </a:p>
              <a:p>
                <a:pPr marL="0" indent="0">
                  <a:buNone/>
                </a:pPr>
                <a:endParaRPr lang="en-U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100D52-4D21-E330-350B-F894EFAF4D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0915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2DF18-0B18-8447-AE03-8CE50550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Secant Formula</a:t>
            </a:r>
            <a:endParaRPr lang="en-U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D9CE5D-F3D6-DA87-FFE9-920C2CE9F4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Newton’s method with the derivative replaced by the slope of a secant line through the last two estimates.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D9CE5D-F3D6-DA87-FFE9-920C2CE9F4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3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3A5D00A-703B-4798-F779-A9A43F0E43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9642862"/>
                  </p:ext>
                </p:extLst>
              </p:nvPr>
            </p:nvGraphicFramePr>
            <p:xfrm>
              <a:off x="1861457" y="4736494"/>
              <a:ext cx="8118927" cy="12887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6309">
                      <a:extLst>
                        <a:ext uri="{9D8B030D-6E8A-4147-A177-3AD203B41FA5}">
                          <a16:colId xmlns:a16="http://schemas.microsoft.com/office/drawing/2014/main" val="894608943"/>
                        </a:ext>
                      </a:extLst>
                    </a:gridCol>
                    <a:gridCol w="2706309">
                      <a:extLst>
                        <a:ext uri="{9D8B030D-6E8A-4147-A177-3AD203B41FA5}">
                          <a16:colId xmlns:a16="http://schemas.microsoft.com/office/drawing/2014/main" val="3516678929"/>
                        </a:ext>
                      </a:extLst>
                    </a:gridCol>
                    <a:gridCol w="2706309">
                      <a:extLst>
                        <a:ext uri="{9D8B030D-6E8A-4147-A177-3AD203B41FA5}">
                          <a16:colId xmlns:a16="http://schemas.microsoft.com/office/drawing/2014/main" val="2620006754"/>
                        </a:ext>
                      </a:extLst>
                    </a:gridCol>
                  </a:tblGrid>
                  <a:tr h="128874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 derivative </a:t>
                          </a:r>
                        </a:p>
                        <a:p>
                          <a:r>
                            <a:rPr lang="en-US" dirty="0"/>
                            <a:t>Only f(x) is needed, never f’(x)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Two guesses</a:t>
                          </a:r>
                        </a:p>
                        <a:p>
                          <a:r>
                            <a:rPr lang="en-US" dirty="0"/>
                            <a:t>Each step uses the two latest </a:t>
                          </a:r>
                          <a:r>
                            <a:rPr lang="en-US" dirty="0" err="1"/>
                            <a:t>iestimates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Stop rule</a:t>
                          </a:r>
                        </a:p>
                        <a:p>
                          <a:r>
                            <a:rPr lang="en-US" dirty="0"/>
                            <a:t>|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)| &lt;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𝒕𝒐𝒍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𝒐𝒓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𝒓𝒆𝒂𝒄𝒉𝒆𝒔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oMath>
                          </a14:m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10460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3A5D00A-703B-4798-F779-A9A43F0E43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9642862"/>
                  </p:ext>
                </p:extLst>
              </p:nvPr>
            </p:nvGraphicFramePr>
            <p:xfrm>
              <a:off x="1861457" y="4736494"/>
              <a:ext cx="8118927" cy="12887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6309">
                      <a:extLst>
                        <a:ext uri="{9D8B030D-6E8A-4147-A177-3AD203B41FA5}">
                          <a16:colId xmlns:a16="http://schemas.microsoft.com/office/drawing/2014/main" val="894608943"/>
                        </a:ext>
                      </a:extLst>
                    </a:gridCol>
                    <a:gridCol w="2706309">
                      <a:extLst>
                        <a:ext uri="{9D8B030D-6E8A-4147-A177-3AD203B41FA5}">
                          <a16:colId xmlns:a16="http://schemas.microsoft.com/office/drawing/2014/main" val="3516678929"/>
                        </a:ext>
                      </a:extLst>
                    </a:gridCol>
                    <a:gridCol w="2706309">
                      <a:extLst>
                        <a:ext uri="{9D8B030D-6E8A-4147-A177-3AD203B41FA5}">
                          <a16:colId xmlns:a16="http://schemas.microsoft.com/office/drawing/2014/main" val="2620006754"/>
                        </a:ext>
                      </a:extLst>
                    </a:gridCol>
                  </a:tblGrid>
                  <a:tr h="128874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 derivative </a:t>
                          </a:r>
                        </a:p>
                        <a:p>
                          <a:r>
                            <a:rPr lang="en-US" dirty="0"/>
                            <a:t>Only f(x) is needed, never f’(x)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Two guesses</a:t>
                          </a:r>
                        </a:p>
                        <a:p>
                          <a:r>
                            <a:rPr lang="en-US" dirty="0"/>
                            <a:t>Each step uses the two latest </a:t>
                          </a:r>
                          <a:r>
                            <a:rPr lang="en-US" dirty="0" err="1"/>
                            <a:t>iestimates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G"/>
                        </a:p>
                      </a:txBody>
                      <a:tcPr>
                        <a:blipFill>
                          <a:blip r:embed="rId3"/>
                          <a:stretch>
                            <a:fillRect l="-200450" t="-1878" r="-901" b="-1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10460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85808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2D313-C1AD-5773-FF1F-7E6FEFDB9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Iterations</a:t>
            </a:r>
            <a:endParaRPr lang="en-UG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Content Placeholder 9">
                <a:extLst>
                  <a:ext uri="{FF2B5EF4-FFF2-40B4-BE49-F238E27FC236}">
                    <a16:creationId xmlns:a16="http://schemas.microsoft.com/office/drawing/2014/main" id="{AFBA5426-715E-F600-180D-26916893149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50177019"/>
                  </p:ext>
                </p:extLst>
              </p:nvPr>
            </p:nvGraphicFramePr>
            <p:xfrm>
              <a:off x="838200" y="1401082"/>
              <a:ext cx="10515600" cy="2961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12038497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81775967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4184883810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924252942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3804767939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5392456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X(k-1)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X(k)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X(k+1)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f(x(k+1))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|change|</a:t>
                          </a:r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8970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1.00000000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2.00000000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1.33333333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-0.96296296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0.66666667</a:t>
                          </a:r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28169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2.00000000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1.33333333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1.46268657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-0.33333887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0.12935323</a:t>
                          </a:r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20103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1.33333333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1.46268657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1.53116943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0.05862642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0.06848286</a:t>
                          </a:r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2386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1.46268657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1.53116943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1.52092642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-0.00269330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0.01024301</a:t>
                          </a:r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8563753"/>
                      </a:ext>
                    </a:extLst>
                  </a:tr>
                  <a:tr h="35333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1.53116943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1.52092642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1.52137632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-2.02e-5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4.50e-4</a:t>
                          </a:r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0269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1.52092642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1.52137632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1.52137971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en-UG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3.39e-6</a:t>
                          </a:r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405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1.52137632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1.52137971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1.52137971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en-UG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G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54641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Content Placeholder 9">
                <a:extLst>
                  <a:ext uri="{FF2B5EF4-FFF2-40B4-BE49-F238E27FC236}">
                    <a16:creationId xmlns:a16="http://schemas.microsoft.com/office/drawing/2014/main" id="{AFBA5426-715E-F600-180D-26916893149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50177019"/>
                  </p:ext>
                </p:extLst>
              </p:nvPr>
            </p:nvGraphicFramePr>
            <p:xfrm>
              <a:off x="838200" y="1401082"/>
              <a:ext cx="10515600" cy="2961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12038497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281775967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4184883810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924252942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3804767939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5392456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X(k-1)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X(k)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X(k+1)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f(x(k+1))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|change|</a:t>
                          </a:r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8970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1.00000000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2.00000000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1.33333333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-0.96296296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0.66666667</a:t>
                          </a:r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28169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2.00000000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1.33333333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1.46268657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-0.33333887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0.12935323</a:t>
                          </a:r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20103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1.33333333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1.46268657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1.53116943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0.05862642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0.06848286</a:t>
                          </a:r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2386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1.46268657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1.53116943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1.52092642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-0.00269330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0.01024301</a:t>
                          </a:r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85637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1.53116943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1.52092642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1.52137632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-2.02e-5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4.50e-4</a:t>
                          </a:r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0269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1.52092642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1.52137632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1.52137971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G"/>
                        </a:p>
                      </a:txBody>
                      <a:tcPr>
                        <a:blipFill>
                          <a:blip r:embed="rId2"/>
                          <a:stretch>
                            <a:fillRect l="-401394" t="-604918" r="-101742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3.39e-6</a:t>
                          </a:r>
                          <a:endParaRPr lang="en-U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4057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1.52137632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1.52137971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1.52137971</a:t>
                          </a:r>
                          <a:endParaRPr lang="en-U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G"/>
                        </a:p>
                      </a:txBody>
                      <a:tcPr>
                        <a:blipFill>
                          <a:blip r:embed="rId2"/>
                          <a:stretch>
                            <a:fillRect l="-401394" t="-704918" r="-101742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G"/>
                        </a:p>
                      </a:txBody>
                      <a:tcPr>
                        <a:blipFill>
                          <a:blip r:embed="rId2"/>
                          <a:stretch>
                            <a:fillRect l="-499653" t="-704918" r="-1389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4641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6137DD3-22AD-EFF3-3CC7-B6E64F7BF543}"/>
              </a:ext>
            </a:extLst>
          </p:cNvPr>
          <p:cNvSpPr txBox="1"/>
          <p:nvPr/>
        </p:nvSpPr>
        <p:spPr>
          <a:xfrm>
            <a:off x="947057" y="4686300"/>
            <a:ext cx="3339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 = 1.521380 after 7 iterations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7381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078C-6AB9-B4B5-03ED-CC04BFB7B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Loop: Pseudocode and MATLAB</a:t>
            </a:r>
            <a:endParaRPr lang="en-U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762758-D842-6BBF-177E-5FED059E2B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8543015"/>
              </p:ext>
            </p:extLst>
          </p:nvPr>
        </p:nvGraphicFramePr>
        <p:xfrm>
          <a:off x="401638" y="1489075"/>
          <a:ext cx="1125378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6894">
                  <a:extLst>
                    <a:ext uri="{9D8B030D-6E8A-4147-A177-3AD203B41FA5}">
                      <a16:colId xmlns:a16="http://schemas.microsoft.com/office/drawing/2014/main" val="2912147287"/>
                    </a:ext>
                  </a:extLst>
                </a:gridCol>
                <a:gridCol w="5626894">
                  <a:extLst>
                    <a:ext uri="{9D8B030D-6E8A-4147-A177-3AD203B41FA5}">
                      <a16:colId xmlns:a16="http://schemas.microsoft.com/office/drawing/2014/main" val="2068883638"/>
                    </a:ext>
                  </a:extLst>
                </a:gridCol>
              </a:tblGrid>
              <a:tr h="4395561">
                <a:tc>
                  <a:txBody>
                    <a:bodyPr/>
                    <a:lstStyle/>
                    <a:p>
                      <a:r>
                        <a:rPr lang="en-US" dirty="0"/>
                        <a:t>PSEUDOCODE;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INPUT f(x), x0, x1, </a:t>
                      </a:r>
                      <a:r>
                        <a:rPr lang="en-US" sz="1800" dirty="0" err="1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tol</a:t>
                      </a: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, N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FOR k = 1 TO N DO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x2 &lt;- x1 - f(x1)*(x1-x0)/(f(x1)-f(x0))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IF |x2 - x1| &lt; </a:t>
                      </a:r>
                      <a:r>
                        <a:rPr lang="en-US" sz="1800" dirty="0" err="1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tol</a:t>
                      </a: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THEN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  PRINT "Root =", x2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  STOP (exit loop)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END IF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x0 &lt;- x1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x1 &lt;- x2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END FOR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PRINT "Did not converge"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</a:t>
                      </a:r>
                      <a:endParaRPr lang="en-UG" dirty="0"/>
                    </a:p>
                  </a:txBody>
                  <a:tcPr marL="97859" marR="9785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MATLAB;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  = @(x) x.^3 - x - 2;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x0 = 1;  x1 = 2;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 err="1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tol</a:t>
                      </a: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= 1e-6;  N = 50;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k = 1:N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x2 = x1 - f(x1)*(x1-x0)/(f(x1)-f(x0));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</a:t>
                      </a:r>
                      <a:r>
                        <a:rPr lang="en-US" sz="1800" dirty="0" err="1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fprintf</a:t>
                      </a: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('%2d  %.8f  %.8f  %.8f\n',k,x0,x1,x2);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if abs(x2 - x1) &lt; </a:t>
                      </a:r>
                      <a:r>
                        <a:rPr lang="en-US" sz="1800" dirty="0" err="1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tol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break;   % converged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end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x0 = x1;  x1 = x2;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 err="1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fprintf</a:t>
                      </a: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('Root = %.6f after %d iterations\n',x2,k);</a:t>
                      </a:r>
                      <a:endParaRPr lang="en-US" sz="1800" dirty="0"/>
                    </a:p>
                    <a:p>
                      <a:endParaRPr lang="en-UG" dirty="0"/>
                    </a:p>
                  </a:txBody>
                  <a:tcPr marL="97859" marR="97859"/>
                </a:tc>
                <a:extLst>
                  <a:ext uri="{0D108BD9-81ED-4DB2-BD59-A6C34878D82A}">
                    <a16:rowId xmlns:a16="http://schemas.microsoft.com/office/drawing/2014/main" val="3520849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7132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D6AEB-3B26-2C7F-054F-659CF2FED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Loop: Flowchart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54516-C7FE-6060-CE5D-0E7C50C09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1000"/>
              </a:spcAft>
              <a:buSzPct val="100000"/>
            </a:pPr>
            <a:r>
              <a:rPr lang="en-US" dirty="0">
                <a:solidFill>
                  <a:srgbClr val="1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f, x0, x1, </a:t>
            </a:r>
            <a:r>
              <a:rPr lang="en-US" dirty="0" err="1">
                <a:solidFill>
                  <a:srgbClr val="1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</a:t>
            </a:r>
            <a:r>
              <a:rPr lang="en-US" dirty="0">
                <a:solidFill>
                  <a:srgbClr val="1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N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</a:pPr>
            <a:r>
              <a:rPr lang="en-US" dirty="0">
                <a:solidFill>
                  <a:srgbClr val="1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counter runs k = 1 to N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</a:pPr>
            <a:r>
              <a:rPr lang="en-US" dirty="0">
                <a:solidFill>
                  <a:srgbClr val="1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x2 with the secant formula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</a:pPr>
            <a:r>
              <a:rPr lang="en-US" dirty="0">
                <a:solidFill>
                  <a:srgbClr val="1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|x2 − x1| &lt; </a:t>
            </a:r>
            <a:r>
              <a:rPr lang="en-US" dirty="0" err="1">
                <a:solidFill>
                  <a:srgbClr val="1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</a:t>
            </a:r>
            <a:r>
              <a:rPr lang="en-US" dirty="0">
                <a:solidFill>
                  <a:srgbClr val="1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print the root and stop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</a:pPr>
            <a:r>
              <a:rPr lang="en-US" dirty="0">
                <a:solidFill>
                  <a:srgbClr val="1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shift x0 = x1, x1 = x2 and repeat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</a:pPr>
            <a:r>
              <a:rPr lang="en-US" dirty="0">
                <a:solidFill>
                  <a:srgbClr val="1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k passes N, report no convergence</a:t>
            </a:r>
            <a:endParaRPr lang="en-US" dirty="0"/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584105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EFBBF-347F-3C92-46B9-DF5CDC6B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Loop: Pseudocode and MATLAB</a:t>
            </a:r>
            <a:endParaRPr lang="en-U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D70CC8-E21D-4509-D6F5-BB1AF6766A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060776"/>
              </p:ext>
            </p:extLst>
          </p:nvPr>
        </p:nvGraphicFramePr>
        <p:xfrm>
          <a:off x="401638" y="1489075"/>
          <a:ext cx="1125378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6119">
                  <a:extLst>
                    <a:ext uri="{9D8B030D-6E8A-4147-A177-3AD203B41FA5}">
                      <a16:colId xmlns:a16="http://schemas.microsoft.com/office/drawing/2014/main" val="29676640"/>
                    </a:ext>
                  </a:extLst>
                </a:gridCol>
                <a:gridCol w="5667668">
                  <a:extLst>
                    <a:ext uri="{9D8B030D-6E8A-4147-A177-3AD203B41FA5}">
                      <a16:colId xmlns:a16="http://schemas.microsoft.com/office/drawing/2014/main" val="2703086085"/>
                    </a:ext>
                  </a:extLst>
                </a:gridCol>
              </a:tblGrid>
              <a:tr h="4428218">
                <a:tc>
                  <a:txBody>
                    <a:bodyPr/>
                    <a:lstStyle/>
                    <a:p>
                      <a:r>
                        <a:rPr lang="en-US" dirty="0"/>
                        <a:t>PSEUDOCODE;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INPUT f(x), x0, x1, </a:t>
                      </a:r>
                      <a:r>
                        <a:rPr lang="en-US" sz="1800" dirty="0" err="1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tol</a:t>
                      </a: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, N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k &lt;- 0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err &lt;- 1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WHILE err &gt; </a:t>
                      </a:r>
                      <a:r>
                        <a:rPr lang="en-US" sz="1800" dirty="0" err="1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tol</a:t>
                      </a: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AND k &lt; N DO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x2  &lt;- x1 - f(x1)*(x1-x0)/(f(x1)-f(x0))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err &lt;- |x2 - x1|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x0  &lt;- x1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x1  &lt;- x2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k   &lt;- k + 1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END WHILE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PRINT "Root =", x1, "after", k, "iterations"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</a:t>
                      </a:r>
                      <a:endParaRPr lang="en-US" sz="1800" dirty="0"/>
                    </a:p>
                    <a:p>
                      <a:endParaRPr lang="en-UG" dirty="0"/>
                    </a:p>
                  </a:txBody>
                  <a:tcPr marL="97859" marR="9785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MATLAB;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  = @(x) x.^3 - x - 2;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x0 = 1;  x1 = 2;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 err="1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tol</a:t>
                      </a: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= 1e-6;  N = 50;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 = 0;  err = 1;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while err &gt; </a:t>
                      </a:r>
                      <a:r>
                        <a:rPr lang="en-US" sz="1800" dirty="0" err="1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tol</a:t>
                      </a: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&amp;&amp; k &lt; N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x2  = x1 - f(x1)*(x1-x0)/(f(x1)-f(x0));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err = abs(x2 - x1);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x0 = x1;  x1 = x2;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k  = k + 1;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dirty="0" err="1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fprintf</a:t>
                      </a:r>
                      <a:r>
                        <a:rPr lang="en-US" sz="1800" dirty="0">
                          <a:solidFill>
                            <a:srgbClr val="12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('Root = %.6f after %d iterations\n',x1,k);</a:t>
                      </a:r>
                      <a:endParaRPr lang="en-US" sz="1800" dirty="0"/>
                    </a:p>
                    <a:p>
                      <a:endParaRPr lang="en-UG" dirty="0"/>
                    </a:p>
                  </a:txBody>
                  <a:tcPr marL="97859" marR="97859"/>
                </a:tc>
                <a:extLst>
                  <a:ext uri="{0D108BD9-81ED-4DB2-BD59-A6C34878D82A}">
                    <a16:rowId xmlns:a16="http://schemas.microsoft.com/office/drawing/2014/main" val="81022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852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B571-9682-CF7F-D11D-B009B5921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  <a:endParaRPr lang="en-U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C31027-DDDC-5AE8-0AF1-EFEFC3627B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1.521380</a:t>
                </a:r>
              </a:p>
              <a:p>
                <a:pPr marL="0" indent="0">
                  <a:buNone/>
                </a:pPr>
                <a:r>
                  <a:rPr lang="en-US" dirty="0"/>
                  <a:t>Root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7 iterations to reach tolerance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C31027-DDDC-5AE8-0AF1-EFEFC3627B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3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A6F794-46E8-C79C-AE47-3E85C51BC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0868"/>
              </p:ext>
            </p:extLst>
          </p:nvPr>
        </p:nvGraphicFramePr>
        <p:xfrm>
          <a:off x="970643" y="3789438"/>
          <a:ext cx="8127999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349986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6837848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07231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While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407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Best when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 iterations known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Stop depends on a condition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829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Counter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 update k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871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Early exit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Needs break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Loop condition ends it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109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2901017"/>
      </p:ext>
    </p:extLst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55</TotalTime>
  <Words>771</Words>
  <Application>Microsoft Office PowerPoint</Application>
  <PresentationFormat>Widescreen</PresentationFormat>
  <Paragraphs>145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Arial Nova Light</vt:lpstr>
      <vt:lpstr>Calibri</vt:lpstr>
      <vt:lpstr>Cambria Math</vt:lpstr>
      <vt:lpstr>Courier New</vt:lpstr>
      <vt:lpstr>Univers Condensed</vt:lpstr>
      <vt:lpstr>Lines</vt:lpstr>
      <vt:lpstr>Secant Method</vt:lpstr>
      <vt:lpstr>The Problem Find a real root of f(x)=x^3-x-2=0</vt:lpstr>
      <vt:lpstr>The Secant Formula</vt:lpstr>
      <vt:lpstr>Iterations</vt:lpstr>
      <vt:lpstr>While Loop: Pseudocode and MATLAB</vt:lpstr>
      <vt:lpstr>For Loop: Flowchart</vt:lpstr>
      <vt:lpstr>While Loop: Pseudocode and MATLAB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OWORI GEOFREY TIBERIOUS</dc:creator>
  <cp:lastModifiedBy>OWORI GEOFREY TIBERIOUS</cp:lastModifiedBy>
  <cp:revision>2</cp:revision>
  <dcterms:created xsi:type="dcterms:W3CDTF">2026-09-28T13:37:52Z</dcterms:created>
  <dcterms:modified xsi:type="dcterms:W3CDTF">2026-09-28T14:32:55Z</dcterms:modified>
</cp:coreProperties>
</file>